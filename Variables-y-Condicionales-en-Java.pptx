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strument Sans Medium"/>
      <p:regular r:id="rId17"/>
    </p:embeddedFont>
    <p:embeddedFont>
      <p:font typeface="Instrument Sans Bold"/>
      <p:regular r:id="rId18"/>
    </p:embeddedFont>
    <p:embeddedFont>
      <p:font typeface="Inter"/>
      <p:regular r:id="rId19"/>
    </p:embeddedFont>
    <p:embeddedFont>
      <p:font typeface="Inter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Variables y Condicionales en Java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645667" cy="266402"/>
          </a:xfrm>
          <a:prstGeom prst="roundRect">
            <a:avLst>
              <a:gd name="adj" fmla="val 6386"/>
            </a:avLst>
          </a:prstGeom>
          <a:solidFill>
            <a:srgbClr val="4A0303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193275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IAN ISAZA BERMÚDEZ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094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¿Qué es una variable?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6505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variable es como una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caja con etiqueta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la memoria del computador. Guarda un valor que puede cambiar durante la ejecución del programa.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204963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3467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Nombre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653233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etiqueta de la caja. Identifica la variable en el código.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204963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3467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🔢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Valor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653233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guarda la caja. Puede ser un número, texto u otro dato.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617193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7589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Tipo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406546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qué clase de dato puede almacenar esa caja.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45504"/>
            <a:ext cx="314429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Tipos de datos en Java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493937"/>
            <a:ext cx="4580409" cy="25955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19254" y="871463"/>
            <a:ext cx="2349178" cy="620316"/>
          </a:xfrm>
          <a:prstGeom prst="roundRect">
            <a:avLst>
              <a:gd name="adj" fmla="val 11056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04967" y="871463"/>
            <a:ext cx="57150" cy="620316"/>
          </a:xfrm>
          <a:prstGeom prst="roundRect">
            <a:avLst>
              <a:gd name="adj" fmla="val 27326"/>
            </a:avLst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5980509" y="989856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980509" y="1228948"/>
            <a:ext cx="206952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enteros. Ej: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edad = 20;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819254" y="1568202"/>
            <a:ext cx="2349178" cy="764753"/>
          </a:xfrm>
          <a:prstGeom prst="roundRect">
            <a:avLst>
              <a:gd name="adj" fmla="val 8968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04967" y="1568202"/>
            <a:ext cx="57150" cy="764753"/>
          </a:xfrm>
          <a:prstGeom prst="roundRect">
            <a:avLst>
              <a:gd name="adj" fmla="val 27326"/>
            </a:avLst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5980509" y="168659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double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0509" y="1925687"/>
            <a:ext cx="206952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Números decimales. Ej: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precio = 9.99;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819254" y="2409379"/>
            <a:ext cx="2349178" cy="764753"/>
          </a:xfrm>
          <a:prstGeom prst="roundRect">
            <a:avLst>
              <a:gd name="adj" fmla="val 8968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04967" y="2409379"/>
            <a:ext cx="57150" cy="764753"/>
          </a:xfrm>
          <a:prstGeom prst="roundRect">
            <a:avLst>
              <a:gd name="adj" fmla="val 27326"/>
            </a:avLst>
          </a:prstGeom>
          <a:solidFill>
            <a:srgbClr val="FDC4C4"/>
          </a:solidFill>
          <a:ln/>
        </p:spPr>
      </p:sp>
      <p:sp>
        <p:nvSpPr>
          <p:cNvPr id="14" name="Text 11"/>
          <p:cNvSpPr/>
          <p:nvPr/>
        </p:nvSpPr>
        <p:spPr>
          <a:xfrm>
            <a:off x="5980509" y="2527771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boolean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0509" y="2766864"/>
            <a:ext cx="206952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Verdadero o falso. Ej: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activo = true;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19254" y="3250555"/>
            <a:ext cx="2349178" cy="620316"/>
          </a:xfrm>
          <a:prstGeom prst="roundRect">
            <a:avLst>
              <a:gd name="adj" fmla="val 11056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04967" y="3250555"/>
            <a:ext cx="57150" cy="620316"/>
          </a:xfrm>
          <a:prstGeom prst="roundRect">
            <a:avLst>
              <a:gd name="adj" fmla="val 27326"/>
            </a:avLst>
          </a:prstGeom>
          <a:solidFill>
            <a:srgbClr val="FDC4C4"/>
          </a:solidFill>
          <a:ln/>
        </p:spPr>
      </p:sp>
      <p:sp>
        <p:nvSpPr>
          <p:cNvPr id="18" name="Text 15"/>
          <p:cNvSpPr/>
          <p:nvPr/>
        </p:nvSpPr>
        <p:spPr>
          <a:xfrm>
            <a:off x="5980509" y="336894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0509" y="3608040"/>
            <a:ext cx="206952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solo carácter. Ej: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letra = 'A';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819254" y="3947294"/>
            <a:ext cx="2349178" cy="764753"/>
          </a:xfrm>
          <a:prstGeom prst="roundRect">
            <a:avLst>
              <a:gd name="adj" fmla="val 8968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04967" y="3947294"/>
            <a:ext cx="57150" cy="764753"/>
          </a:xfrm>
          <a:prstGeom prst="roundRect">
            <a:avLst>
              <a:gd name="adj" fmla="val 27326"/>
            </a:avLst>
          </a:prstGeom>
          <a:solidFill>
            <a:srgbClr val="FDC4C4"/>
          </a:solidFill>
          <a:ln/>
        </p:spPr>
      </p:sp>
      <p:sp>
        <p:nvSpPr>
          <p:cNvPr id="22" name="Text 19"/>
          <p:cNvSpPr/>
          <p:nvPr/>
        </p:nvSpPr>
        <p:spPr>
          <a:xfrm>
            <a:off x="5980509" y="4065687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0509" y="4304779"/>
            <a:ext cx="206952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completo. Ej: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nombre = "Ana";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0713"/>
            <a:ext cx="4442222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Declarar y asignar variables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250" y="970136"/>
            <a:ext cx="4851499" cy="2879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4366" y="3181626"/>
            <a:ext cx="1434571" cy="23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Asignar valor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774512" y="3181626"/>
            <a:ext cx="1434571" cy="23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Nombrar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229878" y="3181626"/>
            <a:ext cx="1434571" cy="23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Declarar tipo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41871" y="3976018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Java, siempre debes declarar el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del nombre. El nombre no puede empezar con número ni contener espacios.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41871" y="4293468"/>
            <a:ext cx="8260259" cy="499244"/>
          </a:xfrm>
          <a:prstGeom prst="roundRect">
            <a:avLst>
              <a:gd name="adj" fmla="val 3794"/>
            </a:avLst>
          </a:prstGeom>
          <a:solidFill>
            <a:srgbClr val="4A030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77" y="4483671"/>
            <a:ext cx="157758" cy="1262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2041" y="4437459"/>
            <a:ext cx="81810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completo: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puntaje = 100;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tipo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nombre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puntaje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valor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8239"/>
            <a:ext cx="66372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Buenas prácticas al nombrar variables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4743"/>
            <a:ext cx="1143595" cy="706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78708"/>
            <a:ext cx="17997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Nombres descriptivos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5220"/>
            <a:ext cx="2599134" cy="68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nombres que expliquen el propósito: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numeroEstudiantes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mejor que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94743"/>
            <a:ext cx="1143595" cy="706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787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 camelCase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5220"/>
            <a:ext cx="2599134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Java, la convención es empezar en minúscula y capitalizar cada palabra siguiente: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miVariable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94743"/>
            <a:ext cx="1143595" cy="706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78708"/>
            <a:ext cx="20771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Evita palabras reservadas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5220"/>
            <a:ext cx="259913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uses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ni otras palabras del lenguaje como nombres.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02357"/>
            <a:ext cx="50607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¿Qué son los condicionales?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657945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condicionales permiten que el programa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tome decisiones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Según si una condición es verdadera o falsa, se ejecuta un bloque de código u otro.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97857"/>
            <a:ext cx="4722763" cy="1643211"/>
          </a:xfrm>
          <a:prstGeom prst="roundRect">
            <a:avLst>
              <a:gd name="adj" fmla="val 1294"/>
            </a:avLst>
          </a:prstGeom>
          <a:solidFill>
            <a:srgbClr val="434348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497857"/>
            <a:ext cx="4722763" cy="821606"/>
          </a:xfrm>
          <a:prstGeom prst="roundRect">
            <a:avLst>
              <a:gd name="adj" fmla="val 2588"/>
            </a:avLst>
          </a:prstGeom>
          <a:solidFill>
            <a:srgbClr val="434348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26396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 se cumple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946127"/>
            <a:ext cx="443924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ejecuta el bloque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3319463"/>
            <a:ext cx="4722763" cy="821606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0" name="Shape 7"/>
          <p:cNvSpPr/>
          <p:nvPr/>
        </p:nvSpPr>
        <p:spPr>
          <a:xfrm>
            <a:off x="496119" y="3319463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5C5C61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4612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 no se cumple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767733"/>
            <a:ext cx="443924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ejecuta el bloque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893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Estructura del if-else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73994"/>
            <a:ext cx="4327773" cy="1871216"/>
          </a:xfrm>
          <a:prstGeom prst="roundRect">
            <a:avLst>
              <a:gd name="adj" fmla="val 1136"/>
            </a:avLst>
          </a:prstGeom>
          <a:solidFill>
            <a:srgbClr val="313136"/>
          </a:solidFill>
          <a:ln/>
        </p:spPr>
      </p:sp>
      <p:sp>
        <p:nvSpPr>
          <p:cNvPr id="4" name="Shape 2"/>
          <p:cNvSpPr/>
          <p:nvPr/>
        </p:nvSpPr>
        <p:spPr>
          <a:xfrm>
            <a:off x="489049" y="1473994"/>
            <a:ext cx="4341912" cy="1871216"/>
          </a:xfrm>
          <a:prstGeom prst="roundRect">
            <a:avLst>
              <a:gd name="adj" fmla="val 1136"/>
            </a:avLst>
          </a:prstGeom>
          <a:solidFill>
            <a:srgbClr val="313136"/>
          </a:solidFill>
          <a:ln/>
        </p:spPr>
      </p:sp>
      <p:sp>
        <p:nvSpPr>
          <p:cNvPr id="5" name="Text 3"/>
          <p:cNvSpPr/>
          <p:nvPr/>
        </p:nvSpPr>
        <p:spPr>
          <a:xfrm>
            <a:off x="666229" y="1615753"/>
            <a:ext cx="398755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edad = 18;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(edad &gt;= 18)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System.out.println("Eres mayor");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System.out.println("Eres menor");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74531" y="145628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Partes clave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174531" y="1837209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8" name="Text 6"/>
          <p:cNvSpPr/>
          <p:nvPr/>
        </p:nvSpPr>
        <p:spPr>
          <a:xfrm>
            <a:off x="5227700" y="186377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635228" y="1885876"/>
            <a:ext cx="2215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Condición entre paréntesis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35228" y="2249091"/>
            <a:ext cx="301734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Debe evaluar 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74531" y="2764185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2" name="Text 10"/>
          <p:cNvSpPr/>
          <p:nvPr/>
        </p:nvSpPr>
        <p:spPr>
          <a:xfrm>
            <a:off x="5227700" y="27907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635228" y="28128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Llaves { }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35228" y="3176067"/>
            <a:ext cx="30173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Delimitan el bloque de código a ejecutar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74531" y="3686398"/>
            <a:ext cx="318939" cy="318939"/>
          </a:xfrm>
          <a:prstGeom prst="roundRect">
            <a:avLst>
              <a:gd name="adj" fmla="val 6667"/>
            </a:avLst>
          </a:prstGeom>
          <a:solidFill>
            <a:srgbClr val="434348"/>
          </a:solidFill>
          <a:ln/>
        </p:spPr>
      </p:sp>
      <p:sp>
        <p:nvSpPr>
          <p:cNvPr id="16" name="Text 14"/>
          <p:cNvSpPr/>
          <p:nvPr/>
        </p:nvSpPr>
        <p:spPr>
          <a:xfrm>
            <a:off x="5227700" y="371296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635228" y="373506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else es opcional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35228" y="4098280"/>
            <a:ext cx="30173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se usa cuando hay una alternativa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1351"/>
            <a:ext cx="51326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Operadores de comparación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7856"/>
            <a:ext cx="860896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condicionales usan operadores para comparar valores y devolver un resultado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88902"/>
            <a:ext cx="8151763" cy="2883247"/>
          </a:xfrm>
          <a:prstGeom prst="roundRect">
            <a:avLst>
              <a:gd name="adj" fmla="val 73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69366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2789" y="1783482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73573" y="1783482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09095" y="1783482"/>
            <a:ext cx="46494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0881" y="2100114"/>
            <a:ext cx="8142238" cy="4112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2789" y="2189931"/>
            <a:ext cx="17997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73573" y="2189931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Igual 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09095" y="2189931"/>
            <a:ext cx="46494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== 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¿a es igual a b?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2511326"/>
            <a:ext cx="8142238" cy="4112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789" y="2601144"/>
            <a:ext cx="17997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73573" y="2601144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 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09095" y="2601144"/>
            <a:ext cx="46494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!= 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¿a es distinto de b?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881" y="2922538"/>
            <a:ext cx="8142238" cy="4112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2789" y="3012356"/>
            <a:ext cx="17997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73573" y="3012356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09095" y="3012356"/>
            <a:ext cx="46494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&gt; 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¿a es mayor que b?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0881" y="3333750"/>
            <a:ext cx="8142238" cy="4112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2789" y="3423568"/>
            <a:ext cx="17997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73573" y="3423568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que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09095" y="3423568"/>
            <a:ext cx="46494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&lt; 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¿a es menor que b?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0881" y="3744962"/>
            <a:ext cx="8142238" cy="4112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2789" y="3834780"/>
            <a:ext cx="17997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73573" y="3834780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Mayor o igual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09095" y="3834780"/>
            <a:ext cx="46494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&gt;= 18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¿a es mayor o igual a 18?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0881" y="4156174"/>
            <a:ext cx="8142238" cy="4112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2789" y="4245992"/>
            <a:ext cx="179970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73573" y="4245992"/>
            <a:ext cx="2204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o igual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09095" y="4245992"/>
            <a:ext cx="46494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&lt;= 100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¿a es menor o igual a 100?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5251"/>
            <a:ext cx="51684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else if: múltiples condiciones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10308"/>
            <a:ext cx="3902943" cy="2778472"/>
          </a:xfrm>
          <a:prstGeom prst="roundRect">
            <a:avLst>
              <a:gd name="adj" fmla="val 765"/>
            </a:avLst>
          </a:prstGeom>
          <a:solidFill>
            <a:srgbClr val="313136"/>
          </a:solidFill>
          <a:ln/>
        </p:spPr>
      </p:sp>
      <p:sp>
        <p:nvSpPr>
          <p:cNvPr id="4" name="Shape 2"/>
          <p:cNvSpPr/>
          <p:nvPr/>
        </p:nvSpPr>
        <p:spPr>
          <a:xfrm>
            <a:off x="489049" y="1510308"/>
            <a:ext cx="3917082" cy="2778472"/>
          </a:xfrm>
          <a:prstGeom prst="roundRect">
            <a:avLst>
              <a:gd name="adj" fmla="val 765"/>
            </a:avLst>
          </a:prstGeom>
          <a:solidFill>
            <a:srgbClr val="313136"/>
          </a:solidFill>
          <a:ln/>
        </p:spPr>
      </p:sp>
      <p:sp>
        <p:nvSpPr>
          <p:cNvPr id="5" name="Text 3"/>
          <p:cNvSpPr/>
          <p:nvPr/>
        </p:nvSpPr>
        <p:spPr>
          <a:xfrm>
            <a:off x="666229" y="1652067"/>
            <a:ext cx="3562722" cy="2494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nota = 85;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(nota &gt;= 90)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System.out.println("A");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(nota &gt;= 80)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System.out.println("B");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(nota &gt;= 70)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System.out.println("C");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System.out.println("Reprobado");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A657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4925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¿Cómo funciona?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85581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evalúa las condiciones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arriba hacia abajo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se detiene en la primera que sea verdadera.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2468910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02234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2683966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2646090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se ejecuta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bloque, aunque varias condiciones sean verdaderas.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3457575"/>
            <a:ext cx="390294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cuando necesitas más de dos opciones posibles.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7989"/>
            <a:ext cx="588317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Resumen: lo que aprendimos hoy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449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86396"/>
            <a:ext cx="2622724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953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1850"/>
            <a:ext cx="262272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Cajas en memoria con tipo, nombre y valor: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edad = 20;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66449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886396"/>
            <a:ext cx="2622724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9953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Tipos de datos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301850"/>
            <a:ext cx="2622724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66449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886396"/>
            <a:ext cx="2622724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9953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Condicionales if-else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301850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Toman decisiones según si una condición es verdadera o falsa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00826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230166"/>
            <a:ext cx="4004965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339108"/>
            <a:ext cx="23367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Operadores de comparación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645619"/>
            <a:ext cx="40049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00826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230166"/>
            <a:ext cx="4004965" cy="1905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3391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else if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645619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Maneja múltiples condiciones en cascada de forma ordenada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2026-05-25T22:37:37Z</dcterms:created>
  <dcterms:modified xsi:type="dcterms:W3CDTF">2026-05-25T22:37:37Z</dcterms:modified>
</cp:coreProperties>
</file>